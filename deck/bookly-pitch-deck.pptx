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7A4A2B"/>
                </a:solidFill>
                <a:latin typeface="Helvetica Neue"/>
              </a:rPr>
              <a:t>BOOKLY SUPPORT AGENT — SOLUTION PITCH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2B2320"/>
                </a:solidFill>
                <a:latin typeface="Helvetica Neue"/>
              </a:rPr>
              <a:t>The Thesis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17320"/>
            <a:ext cx="11064240" cy="1417320"/>
          </a:xfrm>
          <a:prstGeom prst="roundRect">
            <a:avLst>
              <a:gd name="adj" fmla="val 8000"/>
            </a:avLst>
          </a:prstGeom>
          <a:solidFill>
            <a:srgbClr val="7A4A2B"/>
          </a:solidFill>
          <a:ln w="12700">
            <a:solidFill>
              <a:srgbClr val="7A4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/>
          <a:lstStyle/>
          <a:p>
            <a:pPr algn="l"/>
            <a:r>
              <a:rPr sz="2400" b="1">
                <a:solidFill>
                  <a:srgbClr val="FFFFFF"/>
                </a:solidFill>
                <a:latin typeface="Helvetica Neue"/>
              </a:rPr>
              <a:t>A support agent should never guess or fabricate when it can ask the customer or check a real system.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063240"/>
            <a:ext cx="3538728" cy="3063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D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3319272"/>
            <a:ext cx="302666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7A4A2B"/>
                </a:solidFill>
                <a:latin typeface="Helvetica Neue"/>
              </a:rPr>
              <a:t>Grounded in real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3931920"/>
            <a:ext cx="3026664" cy="1965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B2320"/>
                </a:solidFill>
                <a:latin typeface="Helvetica Neue"/>
              </a:rPr>
              <a:t>Every order, customer, and book fact comes from an MCP tool call against the live REST API — never from the model's memory. The system prompt explicitly forbids fabricating order numbers, statuses, tracking numbers, or policy details.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06824" y="3063240"/>
            <a:ext cx="3538728" cy="3063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D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62856" y="3319272"/>
            <a:ext cx="302666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7A4A2B"/>
                </a:solidFill>
                <a:latin typeface="Helvetica Neue"/>
              </a:rPr>
              <a:t>Ask, don't assume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62856" y="3931920"/>
            <a:ext cx="3026664" cy="1965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B2320"/>
                </a:solidFill>
                <a:latin typeface="Helvetica Neue"/>
              </a:rPr>
              <a:t>Returns require order, item (if multi-item), and reason before initiate_return ever fires. “My order” with more than one candidate gets a clarifying question, not a best guess.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65008" y="3063240"/>
            <a:ext cx="3538728" cy="3063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D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0" y="3319272"/>
            <a:ext cx="302666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7A4A2B"/>
                </a:solidFill>
                <a:latin typeface="Helvetica Neue"/>
              </a:rPr>
              <a:t>Bounded scope, safely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0" y="3931920"/>
            <a:ext cx="3026664" cy="1965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B2320"/>
                </a:solidFill>
                <a:latin typeface="Helvetica Neue"/>
              </a:rPr>
              <a:t>A dedicated guardrails layer screens every message in and out against configurable categories, redirecting anything outside Bookly support before it reaches a tool or the customer.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7A6F66"/>
                </a:solidFill>
                <a:latin typeface="Helvetica Neue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7A4A2B"/>
                </a:solidFill>
                <a:latin typeface="Helvetica Neue"/>
              </a:rPr>
              <a:t>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B2320"/>
                </a:solidFill>
                <a:latin typeface="Helvetica Neue"/>
              </a:rPr>
              <a:t>Architecture: One Request, End to End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600200"/>
            <a:ext cx="1696669" cy="12344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D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28016"/>
          <a:lstStyle/>
          <a:p>
            <a:pPr algn="ctr"/>
            <a:r>
              <a:rPr sz="1450" b="1">
                <a:solidFill>
                  <a:srgbClr val="2B2320"/>
                </a:solidFill>
                <a:latin typeface="Helvetica Neue"/>
              </a:rPr>
              <a:t>Frontend</a:t>
            </a:r>
          </a:p>
          <a:p>
            <a:pPr algn="ctr">
              <a:spcBef>
                <a:spcPts val="200"/>
              </a:spcBef>
            </a:pPr>
            <a:r>
              <a:rPr sz="1000">
                <a:solidFill>
                  <a:srgbClr val="7A6F66"/>
                </a:solidFill>
                <a:latin typeface="Helvetica Neue"/>
              </a:rPr>
              <a:t>Single-page chat UI</a:t>
            </a:r>
          </a:p>
          <a:p>
            <a:pPr algn="ctr">
              <a:spcBef>
                <a:spcPts val="200"/>
              </a:spcBef>
            </a:pPr>
            <a:r>
              <a:rPr sz="1000">
                <a:solidFill>
                  <a:srgbClr val="7A6F66"/>
                </a:solidFill>
                <a:latin typeface="Helvetica Neue"/>
              </a:rPr>
              <a:t>(HTML/CSS/JS)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400757" y="1600200"/>
            <a:ext cx="1696669" cy="1234440"/>
          </a:xfrm>
          <a:prstGeom prst="roundRect">
            <a:avLst>
              <a:gd name="adj" fmla="val 10000"/>
            </a:avLst>
          </a:prstGeom>
          <a:solidFill>
            <a:srgbClr val="7A4A2B"/>
          </a:solidFill>
          <a:ln w="12700">
            <a:solidFill>
              <a:srgbClr val="7A4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28016"/>
          <a:lstStyle/>
          <a:p>
            <a:pPr algn="ctr"/>
            <a:r>
              <a:rPr sz="1450" b="1">
                <a:solidFill>
                  <a:srgbClr val="FFFFFF"/>
                </a:solidFill>
                <a:latin typeface="Helvetica Neue"/>
              </a:rPr>
              <a:t>Backend /</a:t>
            </a:r>
          </a:p>
          <a:p>
            <a:pPr algn="ctr"/>
            <a:r>
              <a:rPr sz="1450" b="1">
                <a:solidFill>
                  <a:srgbClr val="FFFFFF"/>
                </a:solidFill>
                <a:latin typeface="Helvetica Neue"/>
              </a:rPr>
              <a:t>Orchestrator</a:t>
            </a:r>
          </a:p>
          <a:p>
            <a:pPr algn="ctr">
              <a:spcBef>
                <a:spcPts val="200"/>
              </a:spcBef>
            </a:pPr>
            <a:r>
              <a:rPr sz="1000">
                <a:solidFill>
                  <a:srgbClr val="E9D9C8"/>
                </a:solidFill>
                <a:latin typeface="Helvetica Neue"/>
              </a:rPr>
              <a:t>Conversation loop,</a:t>
            </a:r>
          </a:p>
          <a:p>
            <a:pPr algn="ctr">
              <a:spcBef>
                <a:spcPts val="200"/>
              </a:spcBef>
            </a:pPr>
            <a:r>
              <a:rPr sz="1000">
                <a:solidFill>
                  <a:srgbClr val="E9D9C8"/>
                </a:solidFill>
                <a:latin typeface="Helvetica Neue"/>
              </a:rPr>
              <a:t>session state, system prompt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8594" y="1600200"/>
            <a:ext cx="1696669" cy="1234440"/>
          </a:xfrm>
          <a:prstGeom prst="roundRect">
            <a:avLst>
              <a:gd name="adj" fmla="val 10000"/>
            </a:avLst>
          </a:prstGeom>
          <a:solidFill>
            <a:srgbClr val="7A4A2B"/>
          </a:solidFill>
          <a:ln w="12700">
            <a:solidFill>
              <a:srgbClr val="7A4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28016"/>
          <a:lstStyle/>
          <a:p>
            <a:pPr algn="ctr"/>
            <a:r>
              <a:rPr sz="1450" b="1">
                <a:solidFill>
                  <a:srgbClr val="FFFFFF"/>
                </a:solidFill>
                <a:latin typeface="Helvetica Neue"/>
              </a:rPr>
              <a:t>LLM</a:t>
            </a:r>
          </a:p>
          <a:p>
            <a:pPr algn="ctr"/>
            <a:r>
              <a:rPr sz="1450" b="1">
                <a:solidFill>
                  <a:srgbClr val="FFFFFF"/>
                </a:solidFill>
                <a:latin typeface="Helvetica Neue"/>
              </a:rPr>
              <a:t>(tool use)</a:t>
            </a:r>
          </a:p>
          <a:p>
            <a:pPr algn="ctr">
              <a:spcBef>
                <a:spcPts val="200"/>
              </a:spcBef>
            </a:pPr>
            <a:r>
              <a:rPr sz="1000">
                <a:solidFill>
                  <a:srgbClr val="E9D9C8"/>
                </a:solidFill>
                <a:latin typeface="Helvetica Neue"/>
              </a:rPr>
              <a:t>Claude decides:</a:t>
            </a:r>
          </a:p>
          <a:p>
            <a:pPr algn="ctr">
              <a:spcBef>
                <a:spcPts val="200"/>
              </a:spcBef>
            </a:pPr>
            <a:r>
              <a:rPr sz="1000">
                <a:solidFill>
                  <a:srgbClr val="E9D9C8"/>
                </a:solidFill>
                <a:latin typeface="Helvetica Neue"/>
              </a:rPr>
              <a:t>answer, ask, or call a tool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6431" y="1600200"/>
            <a:ext cx="1696669" cy="12344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D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28016"/>
          <a:lstStyle/>
          <a:p>
            <a:pPr algn="ctr"/>
            <a:r>
              <a:rPr sz="1450" b="1">
                <a:solidFill>
                  <a:srgbClr val="2B2320"/>
                </a:solidFill>
                <a:latin typeface="Helvetica Neue"/>
              </a:rPr>
              <a:t>MCP Server</a:t>
            </a:r>
          </a:p>
          <a:p>
            <a:pPr algn="ctr">
              <a:spcBef>
                <a:spcPts val="200"/>
              </a:spcBef>
            </a:pPr>
            <a:r>
              <a:rPr sz="1000">
                <a:solidFill>
                  <a:srgbClr val="7A6F66"/>
                </a:solidFill>
                <a:latin typeface="Helvetica Neue"/>
              </a:rPr>
              <a:t>5 scoped tools —</a:t>
            </a:r>
          </a:p>
          <a:p>
            <a:pPr algn="ctr">
              <a:spcBef>
                <a:spcPts val="200"/>
              </a:spcBef>
            </a:pPr>
            <a:r>
              <a:rPr sz="1000">
                <a:solidFill>
                  <a:srgbClr val="7A6F66"/>
                </a:solidFill>
                <a:latin typeface="Helvetica Neue"/>
              </a:rPr>
              <a:t>never raw SQL/routes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94268" y="1600200"/>
            <a:ext cx="1696669" cy="12344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D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28016"/>
          <a:lstStyle/>
          <a:p>
            <a:pPr algn="ctr"/>
            <a:r>
              <a:rPr sz="1450" b="1">
                <a:solidFill>
                  <a:srgbClr val="2B2320"/>
                </a:solidFill>
                <a:latin typeface="Helvetica Neue"/>
              </a:rPr>
              <a:t>REST API</a:t>
            </a:r>
          </a:p>
          <a:p>
            <a:pPr algn="ctr">
              <a:spcBef>
                <a:spcPts val="200"/>
              </a:spcBef>
            </a:pPr>
            <a:r>
              <a:rPr sz="1000">
                <a:solidFill>
                  <a:srgbClr val="7A6F66"/>
                </a:solidFill>
                <a:latin typeface="Helvetica Neue"/>
              </a:rPr>
              <a:t>Owns all validation;</a:t>
            </a:r>
          </a:p>
          <a:p>
            <a:pPr algn="ctr">
              <a:spcBef>
                <a:spcPts val="200"/>
              </a:spcBef>
            </a:pPr>
            <a:r>
              <a:rPr sz="1000">
                <a:solidFill>
                  <a:srgbClr val="7A6F66"/>
                </a:solidFill>
                <a:latin typeface="Helvetica Neue"/>
              </a:rPr>
              <a:t>only thing touching the DB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92105" y="1600200"/>
            <a:ext cx="1696669" cy="12344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D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28016"/>
          <a:lstStyle/>
          <a:p>
            <a:pPr algn="ctr"/>
            <a:r>
              <a:rPr sz="1450" b="1">
                <a:solidFill>
                  <a:srgbClr val="2B2320"/>
                </a:solidFill>
                <a:latin typeface="Helvetica Neue"/>
              </a:rPr>
              <a:t>Database</a:t>
            </a:r>
          </a:p>
          <a:p>
            <a:pPr algn="ctr">
              <a:spcBef>
                <a:spcPts val="200"/>
              </a:spcBef>
            </a:pPr>
            <a:r>
              <a:rPr sz="1000">
                <a:solidFill>
                  <a:srgbClr val="7A6F66"/>
                </a:solidFill>
                <a:latin typeface="Helvetica Neue"/>
              </a:rPr>
              <a:t>SQLite: customers,</a:t>
            </a:r>
          </a:p>
          <a:p>
            <a:pPr algn="ctr">
              <a:spcBef>
                <a:spcPts val="200"/>
              </a:spcBef>
            </a:pPr>
            <a:r>
              <a:rPr sz="1000">
                <a:solidFill>
                  <a:srgbClr val="7A6F66"/>
                </a:solidFill>
                <a:latin typeface="Helvetica Neue"/>
              </a:rPr>
              <a:t>books, orders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199589" y="2116836"/>
            <a:ext cx="201168" cy="201168"/>
          </a:xfrm>
          <a:prstGeom prst="rightArrow">
            <a:avLst/>
          </a:prstGeom>
          <a:solidFill>
            <a:srgbClr val="7A4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ight Arrow 11"/>
          <p:cNvSpPr/>
          <p:nvPr/>
        </p:nvSpPr>
        <p:spPr>
          <a:xfrm>
            <a:off x="4097426" y="2116836"/>
            <a:ext cx="201168" cy="201168"/>
          </a:xfrm>
          <a:prstGeom prst="rightArrow">
            <a:avLst/>
          </a:prstGeom>
          <a:solidFill>
            <a:srgbClr val="7A4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ight Arrow 12"/>
          <p:cNvSpPr/>
          <p:nvPr/>
        </p:nvSpPr>
        <p:spPr>
          <a:xfrm>
            <a:off x="5995263" y="2116836"/>
            <a:ext cx="201168" cy="201168"/>
          </a:xfrm>
          <a:prstGeom prst="rightArrow">
            <a:avLst/>
          </a:prstGeom>
          <a:solidFill>
            <a:srgbClr val="7A4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ight Arrow 13"/>
          <p:cNvSpPr/>
          <p:nvPr/>
        </p:nvSpPr>
        <p:spPr>
          <a:xfrm>
            <a:off x="7893100" y="2116836"/>
            <a:ext cx="201168" cy="201168"/>
          </a:xfrm>
          <a:prstGeom prst="rightArrow">
            <a:avLst/>
          </a:prstGeom>
          <a:solidFill>
            <a:srgbClr val="7A4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ight Arrow 14"/>
          <p:cNvSpPr/>
          <p:nvPr/>
        </p:nvSpPr>
        <p:spPr>
          <a:xfrm>
            <a:off x="9790937" y="2116836"/>
            <a:ext cx="201168" cy="201168"/>
          </a:xfrm>
          <a:prstGeom prst="rightArrow">
            <a:avLst/>
          </a:prstGeom>
          <a:solidFill>
            <a:srgbClr val="7A4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3063240"/>
            <a:ext cx="1118585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>
                <a:solidFill>
                  <a:srgbClr val="7A6F66"/>
                </a:solidFill>
                <a:latin typeface="Helvetica Neue"/>
              </a:rPr>
              <a:t>←  Grounded reply flows back: DB result → API → MCP tool result → LLM's final answer → orchestrator → frontend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160520"/>
            <a:ext cx="2724912" cy="2148840"/>
          </a:xfrm>
          <a:prstGeom prst="roundRect">
            <a:avLst>
              <a:gd name="adj" fmla="val 8000"/>
            </a:avLst>
          </a:prstGeom>
          <a:solidFill>
            <a:srgbClr val="EFE7DB"/>
          </a:solidFill>
          <a:ln w="12700">
            <a:solidFill>
              <a:srgbClr val="E3D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343400"/>
            <a:ext cx="23591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7A4A2B"/>
                </a:solidFill>
                <a:latin typeface="Helvetica Neue"/>
              </a:rPr>
              <a:t>Orchestration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4782312"/>
            <a:ext cx="2359152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2B2320"/>
                </a:solidFill>
                <a:latin typeface="Helvetica Neue"/>
              </a:rPr>
              <a:t>The conversation loop in backend/app/orchestrator.py: run the model, execute any tool calls, feed results back, repeat until a final reply — capped at 5 round-trips.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10712" y="4160520"/>
            <a:ext cx="2724912" cy="2148840"/>
          </a:xfrm>
          <a:prstGeom prst="roundRect">
            <a:avLst>
              <a:gd name="adj" fmla="val 8000"/>
            </a:avLst>
          </a:prstGeom>
          <a:solidFill>
            <a:srgbClr val="EFE7DB"/>
          </a:solidFill>
          <a:ln w="12700">
            <a:solidFill>
              <a:srgbClr val="E3D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93592" y="4343400"/>
            <a:ext cx="23591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7A4A2B"/>
                </a:solidFill>
                <a:latin typeface="Helvetica Neue"/>
              </a:rPr>
              <a:t>Tools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93592" y="4782312"/>
            <a:ext cx="2359152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2B2320"/>
                </a:solidFill>
                <a:latin typeface="Helvetica Neue"/>
              </a:rPr>
              <a:t>The MCP server (backend/app/mcp_client.py + mcp-server/) exposes 5 task-shaped tools (search_books, get_customer, find_customer_orders, get_order_status, initiate_return), not raw CRUD.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18504" y="4160520"/>
            <a:ext cx="2724912" cy="2148840"/>
          </a:xfrm>
          <a:prstGeom prst="roundRect">
            <a:avLst>
              <a:gd name="adj" fmla="val 8000"/>
            </a:avLst>
          </a:prstGeom>
          <a:solidFill>
            <a:srgbClr val="EFE7DB"/>
          </a:solidFill>
          <a:ln w="12700">
            <a:solidFill>
              <a:srgbClr val="E3D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01384" y="4343400"/>
            <a:ext cx="23591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7A4A2B"/>
                </a:solidFill>
                <a:latin typeface="Helvetica Neue"/>
              </a:rPr>
              <a:t>Memory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01384" y="4782312"/>
            <a:ext cx="2359152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2B2320"/>
                </a:solidFill>
                <a:latin typeface="Helvetica Neue"/>
              </a:rPr>
              <a:t>Per-session conversation history, in-memory in the backend process. Nothing is persisted across restarts — a prototype-scoped choice, called out for production in slide 4.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226296" y="4160520"/>
            <a:ext cx="2724912" cy="2148840"/>
          </a:xfrm>
          <a:prstGeom prst="roundRect">
            <a:avLst>
              <a:gd name="adj" fmla="val 8000"/>
            </a:avLst>
          </a:prstGeom>
          <a:solidFill>
            <a:srgbClr val="EFE7DB"/>
          </a:solidFill>
          <a:ln w="12700">
            <a:solidFill>
              <a:srgbClr val="E3D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09176" y="4343400"/>
            <a:ext cx="23591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7A4A2B"/>
                </a:solidFill>
                <a:latin typeface="Helvetica Neue"/>
              </a:rPr>
              <a:t>Prompts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09176" y="4782312"/>
            <a:ext cx="2359152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2B2320"/>
                </a:solidFill>
                <a:latin typeface="Helvetica Neue"/>
              </a:rPr>
              <a:t>The system prompt (backend/app/prompts.py) scopes the agent to Bookly support, lists the live tools, and hard-codes the no-fabrication / ask-don't-assume rules.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7A6F66"/>
                </a:solidFill>
                <a:latin typeface="Helvetica Neue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7A4A2B"/>
                </a:solidFill>
                <a:latin typeface="Helvetica Neue"/>
              </a:rPr>
              <a:t>WHY IT'S BUILT THIS WAY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B2320"/>
                </a:solidFill>
                <a:latin typeface="Helvetica Neue"/>
              </a:rPr>
              <a:t>Key Decisions &amp; Trade-offs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17320"/>
            <a:ext cx="3639312" cy="5120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D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618488"/>
            <a:ext cx="3182112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>
                <a:solidFill>
                  <a:srgbClr val="2B2320"/>
                </a:solidFill>
                <a:latin typeface="Helvetica Neue"/>
              </a:rPr>
              <a:t>Enforce tool use via MCP</a:t>
            </a:r>
          </a:p>
          <a:p>
            <a:pPr algn="l">
              <a:lnSpc>
                <a:spcPct val="105000"/>
              </a:lnSpc>
            </a:pPr>
            <a:r>
              <a:rPr sz="1550" b="1">
                <a:solidFill>
                  <a:srgbClr val="2B2320"/>
                </a:solidFill>
                <a:latin typeface="Helvetica Neue"/>
              </a:rPr>
              <a:t>rather than trusting model memory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68880"/>
            <a:ext cx="318211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7A4A2B"/>
                </a:solidFill>
                <a:latin typeface="Helvetica Neue"/>
              </a:rPr>
              <a:t>CHOSE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743200"/>
            <a:ext cx="3182112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2B2320"/>
                </a:solidFill>
                <a:latin typeface="Helvetica Neue"/>
              </a:rPr>
              <a:t>Every order/customer/book fact must come from an MCP tool call; the system prompt forbids fabrication outright.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657600"/>
            <a:ext cx="318211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7A4A2B"/>
                </a:solidFill>
                <a:latin typeface="Helvetica Neue"/>
              </a:rPr>
              <a:t>TRADED OFF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931920"/>
            <a:ext cx="3182112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2B2320"/>
                </a:solidFill>
                <a:latin typeface="Helvetica Neue"/>
              </a:rPr>
              <a:t>Extra latency per turn (a real tool round-trip instead of an instant guess) and more services to keep online.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846320"/>
            <a:ext cx="318211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7A4A2B"/>
                </a:solidFill>
                <a:latin typeface="Helvetica Neue"/>
              </a:rPr>
              <a:t>WORTH IT BECAUSE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120640"/>
            <a:ext cx="3182112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2B2320"/>
                </a:solidFill>
                <a:latin typeface="Helvetica Neue"/>
              </a:rPr>
              <a:t>A hallucinated order number or refund status is a trust-destroying failure for a bookstore agent. Grounding is non-negotiable for anything the customer will act 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79392" y="1417320"/>
            <a:ext cx="3639312" cy="5120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D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07992" y="1618488"/>
            <a:ext cx="3182112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>
                <a:solidFill>
                  <a:srgbClr val="2B2320"/>
                </a:solidFill>
                <a:latin typeface="Helvetica Neue"/>
              </a:rPr>
              <a:t>A dedicated guardrails layer</a:t>
            </a:r>
          </a:p>
          <a:p>
            <a:pPr algn="l">
              <a:lnSpc>
                <a:spcPct val="105000"/>
              </a:lnSpc>
            </a:pPr>
            <a:r>
              <a:rPr sz="1550" b="1">
                <a:solidFill>
                  <a:srgbClr val="2B2320"/>
                </a:solidFill>
                <a:latin typeface="Helvetica Neue"/>
              </a:rPr>
              <a:t>(separate classifier call)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07992" y="2468880"/>
            <a:ext cx="318211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7A4A2B"/>
                </a:solidFill>
                <a:latin typeface="Helvetica Neue"/>
              </a:rPr>
              <a:t>CHOSE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07992" y="2743200"/>
            <a:ext cx="3182112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2B2320"/>
                </a:solidFill>
                <a:latin typeface="Helvetica Neue"/>
              </a:rPr>
              <a:t>A moderation-endpoint-style check — a separate, cheap Claude call — screens every inbound and outbound message against configurable categories.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07992" y="3657600"/>
            <a:ext cx="318211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7A4A2B"/>
                </a:solidFill>
                <a:latin typeface="Helvetica Neue"/>
              </a:rPr>
              <a:t>TRADED OFF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07992" y="3931920"/>
            <a:ext cx="3182112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2B2320"/>
                </a:solidFill>
                <a:latin typeface="Helvetica Neue"/>
              </a:rPr>
              <a:t>Added latency (two extra model calls per turn) and cost, versus no screening or a hand-rolled keyword filter.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07992" y="4846320"/>
            <a:ext cx="318211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7A4A2B"/>
                </a:solidFill>
                <a:latin typeface="Helvetica Neue"/>
              </a:rPr>
              <a:t>WORTH IT BECAUSE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07992" y="5120640"/>
            <a:ext cx="3182112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2B2320"/>
                </a:solidFill>
                <a:latin typeface="Helvetica Neue"/>
              </a:rPr>
              <a:t>Keyword filters are trivially bypassed and don't generalize; a config-driven classifier is tunable without a redeploy and fails closed on a parse error.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55864" y="1417320"/>
            <a:ext cx="3639312" cy="5120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D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84464" y="1618488"/>
            <a:ext cx="3182112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>
                <a:solidFill>
                  <a:srgbClr val="2B2320"/>
                </a:solidFill>
                <a:latin typeface="Helvetica Neue"/>
              </a:rPr>
              <a:t>Layered DB / API / MCP /</a:t>
            </a:r>
          </a:p>
          <a:p>
            <a:pPr algn="l">
              <a:lnSpc>
                <a:spcPct val="105000"/>
              </a:lnSpc>
            </a:pPr>
            <a:r>
              <a:rPr sz="1550" b="1">
                <a:solidFill>
                  <a:srgbClr val="2B2320"/>
                </a:solidFill>
                <a:latin typeface="Helvetica Neue"/>
              </a:rPr>
              <a:t>orchestrator boundaries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4464" y="2468880"/>
            <a:ext cx="318211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7A4A2B"/>
                </a:solidFill>
                <a:latin typeface="Helvetica Neue"/>
              </a:rPr>
              <a:t>CHOSE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84464" y="2743200"/>
            <a:ext cx="3182112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2B2320"/>
                </a:solidFill>
                <a:latin typeface="Helvetica Neue"/>
              </a:rPr>
              <a:t>Four boundaries, each layer touching only the one directly below it (DB only via API; API only via MCP; MCP only via the backend).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84464" y="3657600"/>
            <a:ext cx="318211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7A4A2B"/>
                </a:solidFill>
                <a:latin typeface="Helvetica Neue"/>
              </a:rPr>
              <a:t>TRADED OFF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84464" y="3931920"/>
            <a:ext cx="3182112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2B2320"/>
                </a:solidFill>
                <a:latin typeface="Helvetica Neue"/>
              </a:rPr>
              <a:t>Five containers and moving parts to build and deploy, versus one monolith, for a take-home-sized problem.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84464" y="4846320"/>
            <a:ext cx="318211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7A4A2B"/>
                </a:solidFill>
                <a:latin typeface="Helvetica Neue"/>
              </a:rPr>
              <a:t>WORTH IT BECAUSE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84464" y="5120640"/>
            <a:ext cx="3182112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2B2320"/>
                </a:solidFill>
                <a:latin typeface="Helvetica Neue"/>
              </a:rPr>
              <a:t>The LLM never sees SQL or raw routes — only scoped tools. That's also what lets the database move to managed Postgres later without touching the agent at all.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7A6F66"/>
                </a:solidFill>
                <a:latin typeface="Helvetica Neue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7A4A2B"/>
                </a:solidFill>
                <a:latin typeface="Helvetica Neue"/>
              </a:rPr>
              <a:t>WITH MORE TIME / A PRODUCTION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B2320"/>
                </a:solidFill>
                <a:latin typeface="Helvetica Neue"/>
              </a:rPr>
              <a:t>What I'd Do Differently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508760"/>
            <a:ext cx="5486400" cy="1481328"/>
          </a:xfrm>
          <a:prstGeom prst="roundRect">
            <a:avLst>
              <a:gd name="adj" fmla="val 8000"/>
            </a:avLst>
          </a:prstGeom>
          <a:solidFill>
            <a:srgbClr val="EFE7DB"/>
          </a:solidFill>
          <a:ln w="12700">
            <a:solidFill>
              <a:srgbClr val="E3D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691640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7A4A2B"/>
          </a:solidFill>
          <a:ln w="12700">
            <a:solidFill>
              <a:srgbClr val="7A4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Helvetica Ne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16152" y="1673352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B2320"/>
                </a:solidFill>
                <a:latin typeface="Helvetica Neue"/>
              </a:rPr>
              <a:t>Managed Postgres, not SQLite-on-a-volume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16152" y="2020824"/>
            <a:ext cx="4572000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7A6F66"/>
                </a:solidFill>
                <a:latin typeface="Helvetica Neue"/>
              </a:rPr>
              <a:t>Durable, concurrent-safe storage that survives a container restart — the compose file already isolates the DB behind the API layer specifically so this swap doesn't touch the agent.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508760"/>
            <a:ext cx="5486400" cy="1481328"/>
          </a:xfrm>
          <a:prstGeom prst="roundRect">
            <a:avLst>
              <a:gd name="adj" fmla="val 8000"/>
            </a:avLst>
          </a:prstGeom>
          <a:solidFill>
            <a:srgbClr val="EFE7DB"/>
          </a:solidFill>
          <a:ln w="12700">
            <a:solidFill>
              <a:srgbClr val="E3D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46520" y="1691640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7A4A2B"/>
          </a:solidFill>
          <a:ln w="12700">
            <a:solidFill>
              <a:srgbClr val="7A4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Helvetica Neue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76872" y="1673352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B2320"/>
                </a:solidFill>
                <a:latin typeface="Helvetica Neue"/>
              </a:rPr>
              <a:t>Real customer identity verification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76872" y="2020824"/>
            <a:ext cx="4572000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7A6F66"/>
                </a:solidFill>
                <a:latin typeface="Helvetica Neue"/>
              </a:rPr>
              <a:t>Today, “what's your email” is the only check before disclosing order details. Production needs real auth before that trust boundary is crossed.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154680"/>
            <a:ext cx="5486400" cy="1481328"/>
          </a:xfrm>
          <a:prstGeom prst="roundRect">
            <a:avLst>
              <a:gd name="adj" fmla="val 8000"/>
            </a:avLst>
          </a:prstGeom>
          <a:solidFill>
            <a:srgbClr val="EFE7DB"/>
          </a:solidFill>
          <a:ln w="12700">
            <a:solidFill>
              <a:srgbClr val="E3D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85800" y="3337560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7A4A2B"/>
          </a:solidFill>
          <a:ln w="12700">
            <a:solidFill>
              <a:srgbClr val="7A4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Helvetica Neue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6152" y="3319272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B2320"/>
                </a:solidFill>
                <a:latin typeface="Helvetica Neue"/>
              </a:rPr>
              <a:t>A human escalation path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16152" y="3666744"/>
            <a:ext cx="4572000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7A6F66"/>
                </a:solidFill>
                <a:latin typeface="Helvetica Neue"/>
              </a:rPr>
              <a:t>No way today to hand off to a person when the agent can't help or a customer is upset — a real deployment needs that safety valve.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3154680"/>
            <a:ext cx="5486400" cy="1481328"/>
          </a:xfrm>
          <a:prstGeom prst="roundRect">
            <a:avLst>
              <a:gd name="adj" fmla="val 8000"/>
            </a:avLst>
          </a:prstGeom>
          <a:solidFill>
            <a:srgbClr val="EFE7DB"/>
          </a:solidFill>
          <a:ln w="12700">
            <a:solidFill>
              <a:srgbClr val="E3D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46520" y="3337560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7A4A2B"/>
          </a:solidFill>
          <a:ln w="12700">
            <a:solidFill>
              <a:srgbClr val="7A4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Helvetica Neue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76872" y="3319272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B2320"/>
                </a:solidFill>
                <a:latin typeface="Helvetica Neue"/>
              </a:rPr>
              <a:t>RAG for policy/FAQ content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76872" y="3666744"/>
            <a:ext cx="4572000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7A6F66"/>
                </a:solidFill>
                <a:latin typeface="Helvetica Neue"/>
              </a:rPr>
              <a:t>Shipping/returns/password-reset text lives in config.yaml today. Fine for three policies; a real catalog of support content needs retrieval, not a growing system prompt.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800600"/>
            <a:ext cx="5486400" cy="1481328"/>
          </a:xfrm>
          <a:prstGeom prst="roundRect">
            <a:avLst>
              <a:gd name="adj" fmla="val 8000"/>
            </a:avLst>
          </a:prstGeom>
          <a:solidFill>
            <a:srgbClr val="EFE7DB"/>
          </a:solidFill>
          <a:ln w="12700">
            <a:solidFill>
              <a:srgbClr val="E3D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85800" y="4983480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7A4A2B"/>
          </a:solidFill>
          <a:ln w="12700">
            <a:solidFill>
              <a:srgbClr val="7A4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Helvetica Neue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16152" y="4965192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B2320"/>
                </a:solidFill>
                <a:latin typeface="Helvetica Neue"/>
              </a:rPr>
              <a:t>Observability across the MCP boundary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16152" y="5312664"/>
            <a:ext cx="4572000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7A6F66"/>
                </a:solidFill>
                <a:latin typeface="Helvetica Neue"/>
              </a:rPr>
              <a:t>Right now it's log lines. Production needs traces spanning backend → MCP → API so a slow or wrong tool call is diagnosable.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63640" y="4800600"/>
            <a:ext cx="5486400" cy="1481328"/>
          </a:xfrm>
          <a:prstGeom prst="roundRect">
            <a:avLst>
              <a:gd name="adj" fmla="val 8000"/>
            </a:avLst>
          </a:prstGeom>
          <a:solidFill>
            <a:srgbClr val="EFE7DB"/>
          </a:solidFill>
          <a:ln w="12700">
            <a:solidFill>
              <a:srgbClr val="E3D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446520" y="4983480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7A4A2B"/>
          </a:solidFill>
          <a:ln w="12700">
            <a:solidFill>
              <a:srgbClr val="7A4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Helvetica Neue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4965192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B2320"/>
                </a:solidFill>
                <a:latin typeface="Helvetica Neue"/>
              </a:rPr>
              <a:t>A real eval set, not just scripted conversations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76872" y="5312664"/>
            <a:ext cx="4572000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7A6F66"/>
                </a:solidFill>
                <a:latin typeface="Helvetica Neue"/>
              </a:rPr>
              <a:t>The test suite proves the plumbing (tool wiring, guardrail fail-closed behavior) deterministically. Production needs eval coverage of the model's actual judgment across many phrasings.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7A6F66"/>
                </a:solidFill>
                <a:latin typeface="Helvetica Neue"/>
              </a:rPr>
              <a:t>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