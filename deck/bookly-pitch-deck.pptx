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4A2B"/>
                </a:solidFill>
                <a:latin typeface="Helvetica Neue"/>
              </a:rPr>
              <a:t>BOOKLY SUPPORT AGENT — SOLUTION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B2320"/>
                </a:solidFill>
                <a:latin typeface="Helvetica Neue"/>
              </a:rPr>
              <a:t>The 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A support agent should never guess or fabricate when it can ask the customer or check a real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3538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319272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A4A2B"/>
                </a:solidFill>
                <a:latin typeface="Helvetica Neue"/>
              </a:rPr>
              <a:t>Grounded in real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31920"/>
            <a:ext cx="3026664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B2320"/>
                </a:solidFill>
                <a:latin typeface="Helvetica Neue"/>
              </a:rPr>
              <a:t>Every order, customer, and book fact comes from an MCP tool call against the live REST API — never from the model's memory. The system prompt explicitly forbids fabricating order numbers, statuses, tracking numbers, or policy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3063240"/>
            <a:ext cx="3538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3319272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A4A2B"/>
                </a:solidFill>
                <a:latin typeface="Helvetica Neue"/>
              </a:rPr>
              <a:t>Ask, don't assume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931920"/>
            <a:ext cx="3026664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B2320"/>
                </a:solidFill>
                <a:latin typeface="Helvetica Neue"/>
              </a:rPr>
              <a:t>Returns require order, item (if multi-item), and reason before initiate_return ever fires. “My order” with more than one candidate gets a clarifying question, not a best guess.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3063240"/>
            <a:ext cx="3538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319272"/>
            <a:ext cx="3026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A4A2B"/>
                </a:solidFill>
                <a:latin typeface="Helvetica Neue"/>
              </a:rPr>
              <a:t>Bounded scope, safely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3026664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B2320"/>
                </a:solidFill>
                <a:latin typeface="Helvetica Neue"/>
              </a:rPr>
              <a:t>A dedicated guardrails layer screens every message in and out against configurable categories, redirecting anything outside Bookly support before it reaches a tool or the customer.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4A2B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320"/>
                </a:solidFill>
                <a:latin typeface="Helvetica Neue"/>
              </a:rPr>
              <a:t>Architecture: One Request,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69666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/>
            <a:r>
              <a:rPr sz="1450" b="1">
                <a:solidFill>
                  <a:srgbClr val="2B2320"/>
                </a:solidFill>
                <a:latin typeface="Helvetica Neue"/>
              </a:rPr>
              <a:t>Frontend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Single-page chat UI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(HTML/CSS/JS)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0757" y="1600200"/>
            <a:ext cx="1696669" cy="1234440"/>
          </a:xfrm>
          <a:prstGeom prst="roundRect">
            <a:avLst>
              <a:gd name="adj" fmla="val 1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Backend /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Orchestrator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9D9C8"/>
                </a:solidFill>
                <a:latin typeface="Helvetica Neue"/>
              </a:rPr>
              <a:t>Conversation loop,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9D9C8"/>
                </a:solidFill>
                <a:latin typeface="Helvetica Neue"/>
              </a:rPr>
              <a:t>session state, system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1600200"/>
            <a:ext cx="1696669" cy="1234440"/>
          </a:xfrm>
          <a:prstGeom prst="roundRect">
            <a:avLst>
              <a:gd name="adj" fmla="val 1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LLM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(tool use)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9D9C8"/>
                </a:solidFill>
                <a:latin typeface="Helvetica Neue"/>
              </a:rPr>
              <a:t>The model decides: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9D9C8"/>
                </a:solidFill>
                <a:latin typeface="Helvetica Neue"/>
              </a:rPr>
              <a:t>answer, ask, or call a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1600200"/>
            <a:ext cx="169666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/>
            <a:r>
              <a:rPr sz="1450" b="1">
                <a:solidFill>
                  <a:srgbClr val="2B2320"/>
                </a:solidFill>
                <a:latin typeface="Helvetica Neue"/>
              </a:rPr>
              <a:t>MCP Server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5 scoped tools —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never raw SQL/routes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4268" y="1600200"/>
            <a:ext cx="169666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/>
            <a:r>
              <a:rPr sz="1450" b="1">
                <a:solidFill>
                  <a:srgbClr val="2B2320"/>
                </a:solidFill>
                <a:latin typeface="Helvetica Neue"/>
              </a:rPr>
              <a:t>REST API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Owns all validation;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only thing touching the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2105" y="1600200"/>
            <a:ext cx="1696669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/>
          <a:lstStyle/>
          <a:p>
            <a:pPr algn="ctr"/>
            <a:r>
              <a:rPr sz="1450" b="1">
                <a:solidFill>
                  <a:srgbClr val="2B2320"/>
                </a:solidFill>
                <a:latin typeface="Helvetica Neue"/>
              </a:rPr>
              <a:t>Database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SQLite: customers,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7A6F66"/>
                </a:solidFill>
                <a:latin typeface="Helvetica Neue"/>
              </a:rPr>
              <a:t>books, orders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99589" y="2116836"/>
            <a:ext cx="201168" cy="201168"/>
          </a:xfrm>
          <a:prstGeom prst="rightArrow">
            <a:avLst/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097426" y="2116836"/>
            <a:ext cx="201168" cy="201168"/>
          </a:xfrm>
          <a:prstGeom prst="rightArrow">
            <a:avLst/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95263" y="2116836"/>
            <a:ext cx="201168" cy="201168"/>
          </a:xfrm>
          <a:prstGeom prst="rightArrow">
            <a:avLst/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893100" y="2116836"/>
            <a:ext cx="201168" cy="201168"/>
          </a:xfrm>
          <a:prstGeom prst="rightArrow">
            <a:avLst/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790937" y="2116836"/>
            <a:ext cx="201168" cy="201168"/>
          </a:xfrm>
          <a:prstGeom prst="rightArrow">
            <a:avLst/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7A6F66"/>
                </a:solidFill>
                <a:latin typeface="Helvetica Neue"/>
              </a:rPr>
              <a:t>←  Grounded reply flows back: DB result → API → MCP tool result → LLM's final answer → orchestrator → 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2724912" cy="2148840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4A2B"/>
                </a:solidFill>
                <a:latin typeface="Helvetica Neue"/>
              </a:rPr>
              <a:t>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82312"/>
            <a:ext cx="23591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B2320"/>
                </a:solidFill>
                <a:latin typeface="Helvetica Neue"/>
              </a:rPr>
              <a:t>The conversation loop in backend/app/orchestrator.py: run the model, execute any tool calls, feed results back, repeat until a final reply — capped at 5 round-trips.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4160520"/>
            <a:ext cx="2724912" cy="2148840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4343400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4A2B"/>
                </a:solidFill>
                <a:latin typeface="Helvetica Neue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4782312"/>
            <a:ext cx="23591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B2320"/>
                </a:solidFill>
                <a:latin typeface="Helvetica Neue"/>
              </a:rPr>
              <a:t>The MCP server (backend/app/mcp_client.py + mcp-server/) exposes 5 task-shaped tools (search_books, get_customer, find_customer_orders, get_order_status, initiate_return), not raw CRUD.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4160520"/>
            <a:ext cx="2724912" cy="2148840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4343400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4A2B"/>
                </a:solidFill>
                <a:latin typeface="Helvetica Neue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782312"/>
            <a:ext cx="23591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B2320"/>
                </a:solidFill>
                <a:latin typeface="Helvetica Neue"/>
              </a:rPr>
              <a:t>Per-session conversation history, in-memory in the backend process. Nothing is persisted across restarts — a prototype-scoped choice, called out for production in slide 4.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6296" y="4160520"/>
            <a:ext cx="2724912" cy="2148840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4343400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4A2B"/>
                </a:solidFill>
                <a:latin typeface="Helvetica Neue"/>
              </a:rPr>
              <a:t>Prompts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4782312"/>
            <a:ext cx="235915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B2320"/>
                </a:solidFill>
                <a:latin typeface="Helvetica Neue"/>
              </a:rPr>
              <a:t>The system prompt (backend/app/prompts.py) scopes the agent to Bookly support, lists the live tools, and hard-codes the no-fabrication / ask-don't-assume rules.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4A2B"/>
                </a:solidFill>
                <a:latin typeface="Helvetica Neue"/>
              </a:rPr>
              <a:t>WHY IT'S BUILT THIS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320"/>
                </a:solidFill>
                <a:latin typeface="Helvetica Neue"/>
              </a:rPr>
              <a:t>Key Decisions &amp;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3931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B2320"/>
                </a:solidFill>
                <a:latin typeface="Helvetica Neue"/>
              </a:rPr>
              <a:t>Enforce tool use via MCP</a:t>
            </a:r>
          </a:p>
          <a:p>
            <a:pPr algn="l">
              <a:lnSpc>
                <a:spcPct val="105000"/>
              </a:lnSpc>
            </a:pPr>
            <a:r>
              <a:rPr sz="1550" b="1">
                <a:solidFill>
                  <a:srgbClr val="2B2320"/>
                </a:solidFill>
                <a:latin typeface="Helvetica Neue"/>
              </a:rPr>
              <a:t>rather than trusting model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CHOSE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Every order/customer/book fact must come from an MCP tool call; the system prompt forbids fabrication outright.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TRADED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Extra latency per turn (a real tool round-trip instead of an instant guess) and more services to keep online.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WORTH IT BECAUSE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A hallucinated order number or refund status is a trust-destroying failure for a bookstore agent. Grounding is non-negotiable for anything the customer will act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417320"/>
            <a:ext cx="363931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18488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B2320"/>
                </a:solidFill>
                <a:latin typeface="Helvetica Neue"/>
              </a:rPr>
              <a:t>A dedicated guardrails layer</a:t>
            </a:r>
          </a:p>
          <a:p>
            <a:pPr algn="l">
              <a:lnSpc>
                <a:spcPct val="105000"/>
              </a:lnSpc>
            </a:pPr>
            <a:r>
              <a:rPr sz="1550" b="1">
                <a:solidFill>
                  <a:srgbClr val="2B2320"/>
                </a:solidFill>
                <a:latin typeface="Helvetica Neue"/>
              </a:rPr>
              <a:t>(separate classifier call)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46888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CHOSE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74320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A moderation-endpoint-style check — a separate, cheap OpenAI call — screens every inbound and outbound message against configurable categories.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65760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TRADED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93192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Added latency (two extra model calls per turn) and cost, versus no screening or a hand-rolled keyword filter.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84632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WORTH IT BECAUSE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512064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Keyword filters are trivially bypassed and don't generalize; a config-driven classifier is tunable without a redeploy and fails closed on a parse error.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4" y="1417320"/>
            <a:ext cx="363931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1618488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2B2320"/>
                </a:solidFill>
                <a:latin typeface="Helvetica Neue"/>
              </a:rPr>
              <a:t>Layered DB / API / MCP /</a:t>
            </a:r>
          </a:p>
          <a:p>
            <a:pPr algn="l">
              <a:lnSpc>
                <a:spcPct val="105000"/>
              </a:lnSpc>
            </a:pPr>
            <a:r>
              <a:rPr sz="1550" b="1">
                <a:solidFill>
                  <a:srgbClr val="2B2320"/>
                </a:solidFill>
                <a:latin typeface="Helvetica Neue"/>
              </a:rPr>
              <a:t>orchestrator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46888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CHOSE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74320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Four boundaries, each layer touching only the one directly below it (DB only via API; API only via MCP; MCP only via the backend).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65760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TRADED 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393192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Five containers and moving parts to build and deploy, versus one monolith, for a take-home-sized problem.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4846320"/>
            <a:ext cx="3182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4A2B"/>
                </a:solidFill>
                <a:latin typeface="Helvetica Neue"/>
              </a:rPr>
              <a:t>WORTH IT BECAUSE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5120640"/>
            <a:ext cx="3182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320"/>
                </a:solidFill>
                <a:latin typeface="Helvetica Neue"/>
              </a:rPr>
              <a:t>The LLM never sees SQL or raw routes — only scoped tools. That's also what lets the database move to managed Postgres later without touching the agent at all.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4A2B"/>
                </a:solidFill>
                <a:latin typeface="Helvetica Neue"/>
              </a:rPr>
              <a:t>WITH MORE TIME / A PRODUCTION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B2320"/>
                </a:solidFill>
                <a:latin typeface="Helvetica Neue"/>
              </a:rPr>
              <a:t>What I'd Do Differently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1673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320"/>
                </a:solidFill>
                <a:latin typeface="Helvetica Neue"/>
              </a:rPr>
              <a:t>Managed Postgres, not SQLite-on-a-volume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020824"/>
            <a:ext cx="4572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Durable, concurrent-safe storage that survives a container restart — the compose file already isolates the DB behind the API layer specifically so this swap doesn't touch the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673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320"/>
                </a:solidFill>
                <a:latin typeface="Helvetica Neue"/>
              </a:rPr>
              <a:t>Real customer identity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020824"/>
            <a:ext cx="4572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Today, “what's your email” is the only check before disclosing order details. Production needs real auth before that trust boundary is crossed.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5468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1927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320"/>
                </a:solidFill>
                <a:latin typeface="Helvetica Neue"/>
              </a:rPr>
              <a:t>A human escalation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666744"/>
            <a:ext cx="4572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No way today to hand off to a person when the agent can't help or a customer is upset — a real deployment needs that safety valve.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5468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3337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331927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320"/>
                </a:solidFill>
                <a:latin typeface="Helvetica Neue"/>
              </a:rPr>
              <a:t>RAG for policy/FAQ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666744"/>
            <a:ext cx="4572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Shipping/returns/password-reset text lives in config.yaml today. Fine for three policies; a real catalog of support content needs retrieval, not a growing system prompt.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983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9651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320"/>
                </a:solidFill>
                <a:latin typeface="Helvetica Neue"/>
              </a:rPr>
              <a:t>Observability across the MCP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5312664"/>
            <a:ext cx="4572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Right now it's log lines. Production needs traces spanning backend → MCP → API so a slow or wrong tool call is diagnosable.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5486400" cy="1481328"/>
          </a:xfrm>
          <a:prstGeom prst="roundRect">
            <a:avLst>
              <a:gd name="adj" fmla="val 8000"/>
            </a:avLst>
          </a:prstGeom>
          <a:solidFill>
            <a:srgbClr val="EFE7DB"/>
          </a:solidFill>
          <a:ln w="12700">
            <a:solidFill>
              <a:srgbClr val="E3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4983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A4A2B"/>
          </a:solidFill>
          <a:ln w="12700">
            <a:solidFill>
              <a:srgbClr val="7A4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496519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B2320"/>
                </a:solidFill>
                <a:latin typeface="Helvetica Neue"/>
              </a:rPr>
              <a:t>A real eval set, not just scripted conversations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5312664"/>
            <a:ext cx="4572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The test suite proves the plumbing (tool wiring, guardrail fail-closed behavior) deterministically. Production needs eval coverage of the model's actual judgment across many phrasings.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6F66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