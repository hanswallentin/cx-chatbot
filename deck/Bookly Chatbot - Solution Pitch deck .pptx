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731f718f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731f718f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31826f00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731826f00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731826f00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731826f00_3_9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731826f00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731826f00_3_12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731826f00_3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731826f00_3_15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orchestrator.py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6596000" y="909450"/>
            <a:ext cx="2282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3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Bookly Support Agent</a:t>
            </a:r>
            <a:endParaRPr b="1" sz="3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6379825" y="2731350"/>
            <a:ext cx="264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2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AI Support Agent for the Bookly online bookstore</a:t>
            </a:r>
            <a:endParaRPr b="1" sz="1200">
              <a:solidFill>
                <a:srgbClr val="7A4A2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Woman sitting on couch with laptop computer (Tillhandahålls av Getty Images)" id="162" name="Google Shape;162;p25"/>
          <p:cNvPicPr preferRelativeResize="0"/>
          <p:nvPr/>
        </p:nvPicPr>
        <p:blipFill rotWithShape="1">
          <a:blip r:embed="rId3">
            <a:alphaModFix/>
          </a:blip>
          <a:srcRect b="0" l="12269" r="6371" t="0"/>
          <a:stretch/>
        </p:blipFill>
        <p:spPr>
          <a:xfrm>
            <a:off x="0" y="0"/>
            <a:ext cx="627397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6379825" y="4541200"/>
            <a:ext cx="264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2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Hans Wallentin</a:t>
            </a:r>
            <a:endParaRPr b="1" sz="1200">
              <a:solidFill>
                <a:srgbClr val="7A4A2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2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August 2026</a:t>
            </a:r>
            <a:endParaRPr b="1" sz="1200">
              <a:solidFill>
                <a:srgbClr val="7A4A2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411491" y="24003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BOOKLY SUPPORT AGEN</a:t>
            </a:r>
            <a:r>
              <a:rPr b="1" lang="sv" sz="10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 sz="1100"/>
          </a:p>
        </p:txBody>
      </p:sp>
      <p:sp>
        <p:nvSpPr>
          <p:cNvPr id="170" name="Google Shape;170;p26"/>
          <p:cNvSpPr txBox="1"/>
          <p:nvPr/>
        </p:nvSpPr>
        <p:spPr>
          <a:xfrm>
            <a:off x="411491" y="466344"/>
            <a:ext cx="788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6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design mantra</a:t>
            </a:r>
            <a:r>
              <a:rPr b="1" lang="sv" sz="26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100"/>
          </a:p>
        </p:txBody>
      </p:sp>
      <p:sp>
        <p:nvSpPr>
          <p:cNvPr id="171" name="Google Shape;171;p26"/>
          <p:cNvSpPr/>
          <p:nvPr/>
        </p:nvSpPr>
        <p:spPr>
          <a:xfrm>
            <a:off x="2103451" y="1014975"/>
            <a:ext cx="4702500" cy="1062900"/>
          </a:xfrm>
          <a:prstGeom prst="roundRect">
            <a:avLst>
              <a:gd fmla="val 8000" name="adj"/>
            </a:avLst>
          </a:prstGeom>
          <a:solidFill>
            <a:srgbClr val="7A4A2B"/>
          </a:solidFill>
          <a:ln cap="flat" cmpd="sng" w="12700">
            <a:solidFill>
              <a:srgbClr val="7A4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274325" spcFirstLastPara="1" rIns="27432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the agent as useful as possible</a:t>
            </a:r>
            <a:endParaRPr sz="1100"/>
          </a:p>
        </p:txBody>
      </p:sp>
      <p:sp>
        <p:nvSpPr>
          <p:cNvPr id="172" name="Google Shape;172;p26"/>
          <p:cNvSpPr/>
          <p:nvPr/>
        </p:nvSpPr>
        <p:spPr>
          <a:xfrm>
            <a:off x="411500" y="2297425"/>
            <a:ext cx="1998600" cy="2634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603520" y="2489454"/>
            <a:ext cx="227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Always use</a:t>
            </a:r>
            <a:r>
              <a:rPr b="1" i="0" lang="sv" sz="13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real data</a:t>
            </a:r>
            <a:endParaRPr sz="1100"/>
          </a:p>
        </p:txBody>
      </p:sp>
      <p:sp>
        <p:nvSpPr>
          <p:cNvPr id="174" name="Google Shape;174;p26"/>
          <p:cNvSpPr txBox="1"/>
          <p:nvPr/>
        </p:nvSpPr>
        <p:spPr>
          <a:xfrm>
            <a:off x="603525" y="2948950"/>
            <a:ext cx="1670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order, customer, and book fact comes from an </a:t>
            </a:r>
            <a:r>
              <a:rPr b="1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MCP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tool call against the live </a:t>
            </a:r>
            <a:r>
              <a:rPr b="1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 API</a:t>
            </a:r>
            <a:r>
              <a:rPr b="1"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system prompt explicitly f</a:t>
            </a:r>
            <a:r>
              <a:rPr b="1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orbids fabricating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order numbers, statuses, tracking numbers, or policy details.</a:t>
            </a:r>
            <a:endParaRPr sz="1100"/>
          </a:p>
        </p:txBody>
      </p:sp>
      <p:sp>
        <p:nvSpPr>
          <p:cNvPr id="175" name="Google Shape;175;p26"/>
          <p:cNvSpPr/>
          <p:nvPr/>
        </p:nvSpPr>
        <p:spPr>
          <a:xfrm>
            <a:off x="2584396" y="2297425"/>
            <a:ext cx="1806300" cy="2634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2692223" y="2479150"/>
            <a:ext cx="160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you don’t know - ask</a:t>
            </a:r>
            <a:endParaRPr sz="1100"/>
          </a:p>
        </p:txBody>
      </p:sp>
      <p:sp>
        <p:nvSpPr>
          <p:cNvPr id="177" name="Google Shape;177;p26"/>
          <p:cNvSpPr txBox="1"/>
          <p:nvPr/>
        </p:nvSpPr>
        <p:spPr>
          <a:xfrm>
            <a:off x="2692221" y="2938650"/>
            <a:ext cx="1514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</a:t>
            </a:r>
            <a:r>
              <a:rPr b="1"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request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order, item (i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multi_item)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reason before the return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initiated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“My order” with more than one candidate gets a </a:t>
            </a:r>
            <a:r>
              <a:rPr b="1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clarifying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question, not a best guess.</a:t>
            </a:r>
            <a:endParaRPr sz="1100"/>
          </a:p>
        </p:txBody>
      </p:sp>
      <p:sp>
        <p:nvSpPr>
          <p:cNvPr id="178" name="Google Shape;178;p26"/>
          <p:cNvSpPr/>
          <p:nvPr/>
        </p:nvSpPr>
        <p:spPr>
          <a:xfrm>
            <a:off x="4566550" y="2297425"/>
            <a:ext cx="1978500" cy="2634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4661074" y="2473525"/>
            <a:ext cx="188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 before action</a:t>
            </a:r>
            <a:endParaRPr sz="1100"/>
          </a:p>
        </p:txBody>
      </p:sp>
      <p:sp>
        <p:nvSpPr>
          <p:cNvPr id="180" name="Google Shape;180;p26"/>
          <p:cNvSpPr txBox="1"/>
          <p:nvPr/>
        </p:nvSpPr>
        <p:spPr>
          <a:xfrm>
            <a:off x="4661074" y="2877650"/>
            <a:ext cx="17319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dedicated </a:t>
            </a:r>
            <a:r>
              <a:rPr b="1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guardrails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layer screens every message in and out against configurable categories, redirecting anything outside Bookly support before it reaches a tool or the customer.</a:t>
            </a:r>
            <a:endParaRPr sz="1100"/>
          </a:p>
        </p:txBody>
      </p:sp>
      <p:sp>
        <p:nvSpPr>
          <p:cNvPr id="181" name="Google Shape;181;p26"/>
          <p:cNvSpPr txBox="1"/>
          <p:nvPr/>
        </p:nvSpPr>
        <p:spPr>
          <a:xfrm>
            <a:off x="8526779" y="483489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100"/>
          </a:p>
        </p:txBody>
      </p:sp>
      <p:sp>
        <p:nvSpPr>
          <p:cNvPr id="182" name="Google Shape;182;p26"/>
          <p:cNvSpPr/>
          <p:nvPr/>
        </p:nvSpPr>
        <p:spPr>
          <a:xfrm>
            <a:off x="6741275" y="2297425"/>
            <a:ext cx="1978500" cy="2634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6835799" y="2473525"/>
            <a:ext cx="188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to grow</a:t>
            </a:r>
            <a:endParaRPr sz="1100"/>
          </a:p>
        </p:txBody>
      </p:sp>
      <p:sp>
        <p:nvSpPr>
          <p:cNvPr id="184" name="Google Shape;184;p26"/>
          <p:cNvSpPr txBox="1"/>
          <p:nvPr/>
        </p:nvSpPr>
        <p:spPr>
          <a:xfrm>
            <a:off x="6835799" y="2877650"/>
            <a:ext cx="1731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chatbot is architected using </a:t>
            </a:r>
            <a:r>
              <a:rPr b="1"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containers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This enables it to be deployed </a:t>
            </a:r>
            <a:r>
              <a:rPr b="1"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locally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in </a:t>
            </a:r>
            <a:r>
              <a:rPr b="1"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private/public clouds.</a:t>
            </a:r>
            <a:b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container architecture also allows for capacity growth through </a:t>
            </a:r>
            <a:r>
              <a:rPr b="1"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scaling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411491" y="240030"/>
            <a:ext cx="54865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IT WORKS</a:t>
            </a:r>
            <a:endParaRPr sz="1100"/>
          </a:p>
        </p:txBody>
      </p:sp>
      <p:sp>
        <p:nvSpPr>
          <p:cNvPr id="191" name="Google Shape;191;p27"/>
          <p:cNvSpPr txBox="1"/>
          <p:nvPr/>
        </p:nvSpPr>
        <p:spPr>
          <a:xfrm>
            <a:off x="411491" y="466344"/>
            <a:ext cx="78869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23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Architecture: One Request, End to End</a:t>
            </a:r>
            <a:endParaRPr sz="1100"/>
          </a:p>
        </p:txBody>
      </p:sp>
      <p:sp>
        <p:nvSpPr>
          <p:cNvPr id="192" name="Google Shape;192;p27"/>
          <p:cNvSpPr/>
          <p:nvPr/>
        </p:nvSpPr>
        <p:spPr>
          <a:xfrm>
            <a:off x="377200" y="1200150"/>
            <a:ext cx="1272536" cy="92583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109725" spcFirstLastPara="1" rIns="109725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Chat UI + identity gate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(name/email, HTML/CSS/JS)</a:t>
            </a:r>
            <a:endParaRPr sz="1100"/>
          </a:p>
        </p:txBody>
      </p:sp>
      <p:sp>
        <p:nvSpPr>
          <p:cNvPr id="193" name="Google Shape;193;p27"/>
          <p:cNvSpPr/>
          <p:nvPr/>
        </p:nvSpPr>
        <p:spPr>
          <a:xfrm>
            <a:off x="1800616" y="1200150"/>
            <a:ext cx="1272536" cy="925830"/>
          </a:xfrm>
          <a:prstGeom prst="roundRect">
            <a:avLst>
              <a:gd fmla="val 10000" name="adj"/>
            </a:avLst>
          </a:prstGeom>
          <a:solidFill>
            <a:schemeClr val="lt1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109725" spcFirstLastPara="1" rIns="109725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r>
              <a:rPr b="1" i="0" lang="sv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Orchestrator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Conversation loop,</a:t>
            </a:r>
            <a:endParaRPr sz="1100">
              <a:solidFill>
                <a:srgbClr val="7A6F66"/>
              </a:solidFill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session state, system prompt</a:t>
            </a:r>
            <a:endParaRPr sz="1100">
              <a:solidFill>
                <a:srgbClr val="7A6F66"/>
              </a:solidFill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3224031" y="1200150"/>
            <a:ext cx="1272536" cy="925830"/>
          </a:xfrm>
          <a:prstGeom prst="roundRect">
            <a:avLst>
              <a:gd fmla="val 10000" name="adj"/>
            </a:avLst>
          </a:prstGeom>
          <a:solidFill>
            <a:schemeClr val="lt1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109725" spcFirstLastPara="1" rIns="109725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(tool use)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model decides:</a:t>
            </a:r>
            <a:endParaRPr sz="1100">
              <a:solidFill>
                <a:srgbClr val="7A6F66"/>
              </a:solidFill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answer, ask, or call a tool</a:t>
            </a:r>
            <a:endParaRPr sz="1100">
              <a:solidFill>
                <a:srgbClr val="7A6F66"/>
              </a:solidFill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4647447" y="1200150"/>
            <a:ext cx="1272536" cy="92583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109725" spcFirstLastPara="1" rIns="109725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MCP Server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scoped tools —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never raw SQL/routes</a:t>
            </a:r>
            <a:endParaRPr sz="1100"/>
          </a:p>
        </p:txBody>
      </p:sp>
      <p:sp>
        <p:nvSpPr>
          <p:cNvPr id="196" name="Google Shape;196;p27"/>
          <p:cNvSpPr/>
          <p:nvPr/>
        </p:nvSpPr>
        <p:spPr>
          <a:xfrm>
            <a:off x="6070863" y="1200150"/>
            <a:ext cx="1272536" cy="92583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109725" spcFirstLastPara="1" rIns="109725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 API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Owns all validation;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thing touching the DB</a:t>
            </a:r>
            <a:endParaRPr sz="1100"/>
          </a:p>
        </p:txBody>
      </p:sp>
      <p:sp>
        <p:nvSpPr>
          <p:cNvPr id="197" name="Google Shape;197;p27"/>
          <p:cNvSpPr/>
          <p:nvPr/>
        </p:nvSpPr>
        <p:spPr>
          <a:xfrm>
            <a:off x="7494279" y="1200150"/>
            <a:ext cx="1272536" cy="92583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109725" spcFirstLastPara="1" rIns="109725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SQLite: customers,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books, orders</a:t>
            </a:r>
            <a:endParaRPr sz="1100"/>
          </a:p>
        </p:txBody>
      </p:sp>
      <p:sp>
        <p:nvSpPr>
          <p:cNvPr id="198" name="Google Shape;198;p27"/>
          <p:cNvSpPr/>
          <p:nvPr/>
        </p:nvSpPr>
        <p:spPr>
          <a:xfrm>
            <a:off x="1649736" y="1587627"/>
            <a:ext cx="150880" cy="1508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4A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3073151" y="1587627"/>
            <a:ext cx="150880" cy="1508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4A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4496567" y="1587627"/>
            <a:ext cx="150880" cy="1508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4A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5919983" y="1587627"/>
            <a:ext cx="150880" cy="1508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4A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7343399" y="1587627"/>
            <a:ext cx="150880" cy="1508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A4A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377200" y="2297430"/>
            <a:ext cx="838961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←  Grounded reply flows back: DB result → API → MCP tool result → LLM's final answer → orchestrator → frontend</a:t>
            </a:r>
            <a:endParaRPr sz="1100"/>
          </a:p>
        </p:txBody>
      </p:sp>
      <p:sp>
        <p:nvSpPr>
          <p:cNvPr id="204" name="Google Shape;204;p27"/>
          <p:cNvSpPr/>
          <p:nvPr/>
        </p:nvSpPr>
        <p:spPr>
          <a:xfrm>
            <a:off x="377200" y="3120401"/>
            <a:ext cx="2043900" cy="1755900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514364" y="3257550"/>
            <a:ext cx="17694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Orchestration</a:t>
            </a:r>
            <a:endParaRPr sz="1100"/>
          </a:p>
        </p:txBody>
      </p:sp>
      <p:sp>
        <p:nvSpPr>
          <p:cNvPr id="206" name="Google Shape;206;p27"/>
          <p:cNvSpPr txBox="1"/>
          <p:nvPr/>
        </p:nvSpPr>
        <p:spPr>
          <a:xfrm>
            <a:off x="514364" y="3586734"/>
            <a:ext cx="1769400" cy="10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conversation loop in backend/app/</a:t>
            </a:r>
            <a:r>
              <a:rPr b="0" i="0" lang="sv" sz="9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orchestrator.py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the model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any tool calls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feed results bac</a:t>
            </a: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 until a final reply</a:t>
            </a: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capped at 5 round-trips</a:t>
            </a: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100"/>
          </a:p>
        </p:txBody>
      </p:sp>
      <p:sp>
        <p:nvSpPr>
          <p:cNvPr id="207" name="Google Shape;207;p27"/>
          <p:cNvSpPr/>
          <p:nvPr/>
        </p:nvSpPr>
        <p:spPr>
          <a:xfrm>
            <a:off x="2558100" y="3120401"/>
            <a:ext cx="2043900" cy="1755900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2695266" y="3257550"/>
            <a:ext cx="17694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Tools</a:t>
            </a:r>
            <a:endParaRPr sz="1100"/>
          </a:p>
        </p:txBody>
      </p:sp>
      <p:sp>
        <p:nvSpPr>
          <p:cNvPr id="209" name="Google Shape;209;p27"/>
          <p:cNvSpPr txBox="1"/>
          <p:nvPr/>
        </p:nvSpPr>
        <p:spPr>
          <a:xfrm>
            <a:off x="2695266" y="3586734"/>
            <a:ext cx="1769400" cy="1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MCP server (client.py + mcp-server/) exposes 5 task-shaped tools</a:t>
            </a: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search_books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get_customer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find_customer_orders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get_order_status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initiate_return</a:t>
            </a:r>
            <a:endParaRPr sz="1100"/>
          </a:p>
        </p:txBody>
      </p:sp>
      <p:sp>
        <p:nvSpPr>
          <p:cNvPr id="210" name="Google Shape;210;p27"/>
          <p:cNvSpPr/>
          <p:nvPr/>
        </p:nvSpPr>
        <p:spPr>
          <a:xfrm>
            <a:off x="4739000" y="3120401"/>
            <a:ext cx="2043900" cy="1714500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4876168" y="3257550"/>
            <a:ext cx="17694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</a:t>
            </a:r>
            <a:endParaRPr sz="1100"/>
          </a:p>
        </p:txBody>
      </p:sp>
      <p:sp>
        <p:nvSpPr>
          <p:cNvPr id="212" name="Google Shape;212;p27"/>
          <p:cNvSpPr txBox="1"/>
          <p:nvPr/>
        </p:nvSpPr>
        <p:spPr>
          <a:xfrm>
            <a:off x="4876168" y="3586734"/>
            <a:ext cx="17694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Per-session history, in-memory in the backend, plus the identity gate's name/email — folded into the system prompt per call, never persisted.</a:t>
            </a:r>
            <a:endParaRPr sz="1100"/>
          </a:p>
        </p:txBody>
      </p:sp>
      <p:sp>
        <p:nvSpPr>
          <p:cNvPr id="213" name="Google Shape;213;p27"/>
          <p:cNvSpPr/>
          <p:nvPr/>
        </p:nvSpPr>
        <p:spPr>
          <a:xfrm>
            <a:off x="6919906" y="3120390"/>
            <a:ext cx="2043738" cy="1611630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7057070" y="3257550"/>
            <a:ext cx="17694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Prompts</a:t>
            </a:r>
            <a:endParaRPr sz="1100"/>
          </a:p>
        </p:txBody>
      </p:sp>
      <p:sp>
        <p:nvSpPr>
          <p:cNvPr id="215" name="Google Shape;215;p27"/>
          <p:cNvSpPr txBox="1"/>
          <p:nvPr/>
        </p:nvSpPr>
        <p:spPr>
          <a:xfrm>
            <a:off x="7057070" y="3586734"/>
            <a:ext cx="1769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system prompt (prompts.py) scopes the agent to</a:t>
            </a: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Bookly support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lists the live tools</a:t>
            </a:r>
            <a:b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sv" sz="9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sv" sz="9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hard-codes the no-fabrication / ask-don't-assume rules.</a:t>
            </a:r>
            <a:endParaRPr sz="1100"/>
          </a:p>
        </p:txBody>
      </p:sp>
      <p:sp>
        <p:nvSpPr>
          <p:cNvPr id="216" name="Google Shape;216;p27"/>
          <p:cNvSpPr txBox="1"/>
          <p:nvPr/>
        </p:nvSpPr>
        <p:spPr>
          <a:xfrm>
            <a:off x="8526779" y="4834890"/>
            <a:ext cx="4114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11491" y="240030"/>
            <a:ext cx="54865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IT'S BUILT THIS WAY</a:t>
            </a:r>
            <a:endParaRPr sz="1100"/>
          </a:p>
        </p:txBody>
      </p:sp>
      <p:sp>
        <p:nvSpPr>
          <p:cNvPr id="223" name="Google Shape;223;p28"/>
          <p:cNvSpPr txBox="1"/>
          <p:nvPr/>
        </p:nvSpPr>
        <p:spPr>
          <a:xfrm>
            <a:off x="411491" y="466344"/>
            <a:ext cx="78869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23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Decisions &amp; Trade-offs</a:t>
            </a:r>
            <a:endParaRPr sz="1100"/>
          </a:p>
        </p:txBody>
      </p:sp>
      <p:sp>
        <p:nvSpPr>
          <p:cNvPr id="224" name="Google Shape;224;p28"/>
          <p:cNvSpPr/>
          <p:nvPr/>
        </p:nvSpPr>
        <p:spPr>
          <a:xfrm>
            <a:off x="3315775" y="1028640"/>
            <a:ext cx="2729700" cy="3840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3487230" y="1179516"/>
            <a:ext cx="2386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MCP T</a:t>
            </a:r>
            <a:r>
              <a:rPr b="1" i="0" lang="sv" sz="13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ool use </a:t>
            </a:r>
            <a:r>
              <a:rPr b="1" lang="sv" sz="13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 of </a:t>
            </a:r>
            <a:r>
              <a:rPr b="1" i="0" lang="sv" sz="13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trusting model memory</a:t>
            </a:r>
            <a:endParaRPr sz="1200"/>
          </a:p>
        </p:txBody>
      </p:sp>
      <p:sp>
        <p:nvSpPr>
          <p:cNvPr id="226" name="Google Shape;226;p28"/>
          <p:cNvSpPr txBox="1"/>
          <p:nvPr/>
        </p:nvSpPr>
        <p:spPr>
          <a:xfrm>
            <a:off x="3487230" y="1817310"/>
            <a:ext cx="23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CHOSE</a:t>
            </a:r>
            <a:endParaRPr sz="1300"/>
          </a:p>
        </p:txBody>
      </p:sp>
      <p:sp>
        <p:nvSpPr>
          <p:cNvPr id="227" name="Google Shape;227;p28"/>
          <p:cNvSpPr txBox="1"/>
          <p:nvPr/>
        </p:nvSpPr>
        <p:spPr>
          <a:xfrm>
            <a:off x="3487230" y="2023050"/>
            <a:ext cx="238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order/customer/book fact must come from an MCP tool call; the system prompt forbids fabrication outright.</a:t>
            </a:r>
            <a:endParaRPr sz="1300"/>
          </a:p>
        </p:txBody>
      </p:sp>
      <p:sp>
        <p:nvSpPr>
          <p:cNvPr id="228" name="Google Shape;228;p28"/>
          <p:cNvSpPr txBox="1"/>
          <p:nvPr/>
        </p:nvSpPr>
        <p:spPr>
          <a:xfrm>
            <a:off x="3487230" y="2708850"/>
            <a:ext cx="23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TRADEOFF</a:t>
            </a:r>
            <a:endParaRPr sz="1300"/>
          </a:p>
        </p:txBody>
      </p:sp>
      <p:sp>
        <p:nvSpPr>
          <p:cNvPr id="229" name="Google Shape;229;p28"/>
          <p:cNvSpPr txBox="1"/>
          <p:nvPr/>
        </p:nvSpPr>
        <p:spPr>
          <a:xfrm>
            <a:off x="3487230" y="2914590"/>
            <a:ext cx="238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 latency per turn (a tool round-trip) and more moving parts (services to keep online).</a:t>
            </a:r>
            <a:endParaRPr sz="1300"/>
          </a:p>
        </p:txBody>
      </p:sp>
      <p:sp>
        <p:nvSpPr>
          <p:cNvPr id="230" name="Google Shape;230;p28"/>
          <p:cNvSpPr txBox="1"/>
          <p:nvPr/>
        </p:nvSpPr>
        <p:spPr>
          <a:xfrm>
            <a:off x="3487230" y="3600390"/>
            <a:ext cx="23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WORTH IT BECAUSE</a:t>
            </a:r>
            <a:endParaRPr sz="1300"/>
          </a:p>
        </p:txBody>
      </p:sp>
      <p:sp>
        <p:nvSpPr>
          <p:cNvPr id="231" name="Google Shape;231;p28"/>
          <p:cNvSpPr txBox="1"/>
          <p:nvPr/>
        </p:nvSpPr>
        <p:spPr>
          <a:xfrm>
            <a:off x="3487230" y="3806130"/>
            <a:ext cx="2386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hallucinated order number or refund status is a trust-destroying failure for a bookstore agent. Grounding is non-negotiable for anything the customer will act on.</a:t>
            </a:r>
            <a:endParaRPr sz="1300"/>
          </a:p>
        </p:txBody>
      </p:sp>
      <p:sp>
        <p:nvSpPr>
          <p:cNvPr id="232" name="Google Shape;232;p28"/>
          <p:cNvSpPr/>
          <p:nvPr/>
        </p:nvSpPr>
        <p:spPr>
          <a:xfrm>
            <a:off x="6220055" y="1028690"/>
            <a:ext cx="2729700" cy="3840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6391509" y="1179566"/>
            <a:ext cx="2386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6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1" i="0" lang="sv" sz="16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edicated guardrails layer</a:t>
            </a:r>
            <a:endParaRPr sz="1600"/>
          </a:p>
        </p:txBody>
      </p:sp>
      <p:sp>
        <p:nvSpPr>
          <p:cNvPr id="234" name="Google Shape;234;p28"/>
          <p:cNvSpPr txBox="1"/>
          <p:nvPr/>
        </p:nvSpPr>
        <p:spPr>
          <a:xfrm>
            <a:off x="6391509" y="1817360"/>
            <a:ext cx="23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CHOSE</a:t>
            </a:r>
            <a:endParaRPr sz="1300"/>
          </a:p>
        </p:txBody>
      </p:sp>
      <p:sp>
        <p:nvSpPr>
          <p:cNvPr id="235" name="Google Shape;235;p28"/>
          <p:cNvSpPr txBox="1"/>
          <p:nvPr/>
        </p:nvSpPr>
        <p:spPr>
          <a:xfrm>
            <a:off x="6391509" y="2023100"/>
            <a:ext cx="2386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moderation-endpoint-style check — a separate, cheap OpenAI call — screens every inbound and outbound message against configurable categories.</a:t>
            </a:r>
            <a:endParaRPr sz="1300"/>
          </a:p>
        </p:txBody>
      </p:sp>
      <p:sp>
        <p:nvSpPr>
          <p:cNvPr id="236" name="Google Shape;236;p28"/>
          <p:cNvSpPr txBox="1"/>
          <p:nvPr/>
        </p:nvSpPr>
        <p:spPr>
          <a:xfrm>
            <a:off x="6391509" y="2708900"/>
            <a:ext cx="23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TRADEOFF</a:t>
            </a:r>
            <a:endParaRPr sz="1300"/>
          </a:p>
        </p:txBody>
      </p:sp>
      <p:sp>
        <p:nvSpPr>
          <p:cNvPr id="237" name="Google Shape;237;p28"/>
          <p:cNvSpPr txBox="1"/>
          <p:nvPr/>
        </p:nvSpPr>
        <p:spPr>
          <a:xfrm>
            <a:off x="6391509" y="2914640"/>
            <a:ext cx="238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Added latency (two extra model calls per turn) and cost, versus no screening or a hand-rolled keyword filter.</a:t>
            </a:r>
            <a:endParaRPr sz="1300"/>
          </a:p>
        </p:txBody>
      </p:sp>
      <p:sp>
        <p:nvSpPr>
          <p:cNvPr id="238" name="Google Shape;238;p28"/>
          <p:cNvSpPr txBox="1"/>
          <p:nvPr/>
        </p:nvSpPr>
        <p:spPr>
          <a:xfrm>
            <a:off x="6391509" y="3600440"/>
            <a:ext cx="23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WORTH IT BECAUSE</a:t>
            </a:r>
            <a:endParaRPr sz="1300"/>
          </a:p>
        </p:txBody>
      </p:sp>
      <p:sp>
        <p:nvSpPr>
          <p:cNvPr id="239" name="Google Shape;239;p28"/>
          <p:cNvSpPr txBox="1"/>
          <p:nvPr/>
        </p:nvSpPr>
        <p:spPr>
          <a:xfrm>
            <a:off x="6391509" y="3806180"/>
            <a:ext cx="2386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customer-facing/public chatbot need to have strong moderation/guardrails to not be compromised and/or respond to inappropriate topics. </a:t>
            </a:r>
            <a:endParaRPr sz="1300"/>
          </a:p>
        </p:txBody>
      </p:sp>
      <p:sp>
        <p:nvSpPr>
          <p:cNvPr id="240" name="Google Shape;240;p28"/>
          <p:cNvSpPr/>
          <p:nvPr/>
        </p:nvSpPr>
        <p:spPr>
          <a:xfrm>
            <a:off x="411509" y="1028703"/>
            <a:ext cx="2729700" cy="3840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582964" y="1179579"/>
            <a:ext cx="2386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6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Layered </a:t>
            </a:r>
            <a:r>
              <a:rPr b="1" lang="sv" sz="16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</a:t>
            </a:r>
            <a:endParaRPr sz="1500"/>
          </a:p>
        </p:txBody>
      </p:sp>
      <p:sp>
        <p:nvSpPr>
          <p:cNvPr id="242" name="Google Shape;242;p28"/>
          <p:cNvSpPr txBox="1"/>
          <p:nvPr/>
        </p:nvSpPr>
        <p:spPr>
          <a:xfrm>
            <a:off x="582964" y="1817372"/>
            <a:ext cx="23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CHOSE</a:t>
            </a:r>
            <a:endParaRPr sz="1300"/>
          </a:p>
        </p:txBody>
      </p:sp>
      <p:sp>
        <p:nvSpPr>
          <p:cNvPr id="243" name="Google Shape;243;p28"/>
          <p:cNvSpPr txBox="1"/>
          <p:nvPr/>
        </p:nvSpPr>
        <p:spPr>
          <a:xfrm>
            <a:off x="582964" y="2023113"/>
            <a:ext cx="2386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Multi-tiered architecture with 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layer touching only the one directly below it (DB only via API; API only via MCP; MCP only via the backend).</a:t>
            </a:r>
            <a:endParaRPr sz="1300"/>
          </a:p>
        </p:txBody>
      </p:sp>
      <p:sp>
        <p:nvSpPr>
          <p:cNvPr id="244" name="Google Shape;244;p28"/>
          <p:cNvSpPr txBox="1"/>
          <p:nvPr/>
        </p:nvSpPr>
        <p:spPr>
          <a:xfrm>
            <a:off x="582964" y="2708913"/>
            <a:ext cx="23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0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TRADE</a:t>
            </a: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</a:t>
            </a:r>
            <a:endParaRPr sz="1300"/>
          </a:p>
        </p:txBody>
      </p:sp>
      <p:sp>
        <p:nvSpPr>
          <p:cNvPr id="245" name="Google Shape;245;p28"/>
          <p:cNvSpPr txBox="1"/>
          <p:nvPr/>
        </p:nvSpPr>
        <p:spPr>
          <a:xfrm>
            <a:off x="582964" y="2914653"/>
            <a:ext cx="238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Five containers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lots of files for something that could have been built in a 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binary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endParaRPr sz="1300"/>
          </a:p>
        </p:txBody>
      </p:sp>
      <p:sp>
        <p:nvSpPr>
          <p:cNvPr id="246" name="Google Shape;246;p28"/>
          <p:cNvSpPr txBox="1"/>
          <p:nvPr/>
        </p:nvSpPr>
        <p:spPr>
          <a:xfrm>
            <a:off x="582964" y="3600453"/>
            <a:ext cx="23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0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WORTH IT BECAUSE</a:t>
            </a:r>
            <a:endParaRPr sz="1300"/>
          </a:p>
        </p:txBody>
      </p:sp>
      <p:sp>
        <p:nvSpPr>
          <p:cNvPr id="247" name="Google Shape;247;p28"/>
          <p:cNvSpPr txBox="1"/>
          <p:nvPr/>
        </p:nvSpPr>
        <p:spPr>
          <a:xfrm>
            <a:off x="582964" y="3806193"/>
            <a:ext cx="2386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LLM never sees SQL or raw routes — only scoped tools. That's also what lets the database move to 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database (eg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Postgres) later without 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modifying the</a:t>
            </a:r>
            <a:r>
              <a:rPr b="0" i="0" lang="sv" sz="10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agent</a:t>
            </a:r>
            <a:r>
              <a:rPr lang="sv" sz="10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well as enables scaling in a production environment.</a:t>
            </a:r>
            <a:endParaRPr sz="1300"/>
          </a:p>
        </p:txBody>
      </p:sp>
      <p:sp>
        <p:nvSpPr>
          <p:cNvPr id="248" name="Google Shape;248;p28"/>
          <p:cNvSpPr txBox="1"/>
          <p:nvPr/>
        </p:nvSpPr>
        <p:spPr>
          <a:xfrm>
            <a:off x="8526779" y="4834890"/>
            <a:ext cx="4114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411491" y="24003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0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Moving forward - taking it to production</a:t>
            </a:r>
            <a:endParaRPr sz="1100"/>
          </a:p>
        </p:txBody>
      </p:sp>
      <p:sp>
        <p:nvSpPr>
          <p:cNvPr id="255" name="Google Shape;255;p29"/>
          <p:cNvSpPr txBox="1"/>
          <p:nvPr/>
        </p:nvSpPr>
        <p:spPr>
          <a:xfrm>
            <a:off x="411491" y="466344"/>
            <a:ext cx="78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3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Areas to improve</a:t>
            </a:r>
            <a:endParaRPr sz="1100"/>
          </a:p>
        </p:txBody>
      </p:sp>
      <p:sp>
        <p:nvSpPr>
          <p:cNvPr id="256" name="Google Shape;256;p29"/>
          <p:cNvSpPr/>
          <p:nvPr/>
        </p:nvSpPr>
        <p:spPr>
          <a:xfrm>
            <a:off x="4697913" y="1135033"/>
            <a:ext cx="4114800" cy="1110900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4835076" y="1272193"/>
            <a:ext cx="288000" cy="288000"/>
          </a:xfrm>
          <a:prstGeom prst="roundRect">
            <a:avLst>
              <a:gd fmla="val 50000" name="adj"/>
            </a:avLst>
          </a:prstGeom>
          <a:solidFill>
            <a:srgbClr val="7A4A2B"/>
          </a:solidFill>
          <a:ln cap="flat" cmpd="sng" w="12700">
            <a:solidFill>
              <a:srgbClr val="7A4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100"/>
          </a:p>
        </p:txBody>
      </p:sp>
      <p:sp>
        <p:nvSpPr>
          <p:cNvPr id="258" name="Google Shape;258;p29"/>
          <p:cNvSpPr txBox="1"/>
          <p:nvPr/>
        </p:nvSpPr>
        <p:spPr>
          <a:xfrm>
            <a:off x="5232851" y="1258477"/>
            <a:ext cx="342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1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proper database (eg</a:t>
            </a: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Postgres</a:t>
            </a:r>
            <a:r>
              <a:rPr b="1" lang="sv" sz="11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100"/>
          </a:p>
        </p:txBody>
      </p:sp>
      <p:sp>
        <p:nvSpPr>
          <p:cNvPr id="259" name="Google Shape;259;p29"/>
          <p:cNvSpPr txBox="1"/>
          <p:nvPr/>
        </p:nvSpPr>
        <p:spPr>
          <a:xfrm>
            <a:off x="5232851" y="1519081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urable, concurrent-safe storage that survives a container restart — the </a:t>
            </a:r>
            <a:r>
              <a:rPr lang="sv" sz="9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</a:t>
            </a: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already isolates the DB behind the API layer specifically so this swap doesn't touch the agent.</a:t>
            </a:r>
            <a:endParaRPr sz="900">
              <a:solidFill>
                <a:srgbClr val="7A4A2B"/>
              </a:solidFill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377193" y="1134983"/>
            <a:ext cx="4114800" cy="1110900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514356" y="1272143"/>
            <a:ext cx="288000" cy="288000"/>
          </a:xfrm>
          <a:prstGeom prst="roundRect">
            <a:avLst>
              <a:gd fmla="val 50000" name="adj"/>
            </a:avLst>
          </a:prstGeom>
          <a:solidFill>
            <a:srgbClr val="7A4A2B"/>
          </a:solidFill>
          <a:ln cap="flat" cmpd="sng" w="12700">
            <a:solidFill>
              <a:srgbClr val="7A4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100"/>
          </a:p>
        </p:txBody>
      </p:sp>
      <p:sp>
        <p:nvSpPr>
          <p:cNvPr id="262" name="Google Shape;262;p29"/>
          <p:cNvSpPr txBox="1"/>
          <p:nvPr/>
        </p:nvSpPr>
        <p:spPr>
          <a:xfrm>
            <a:off x="912131" y="1258427"/>
            <a:ext cx="342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 customer</a:t>
            </a:r>
            <a:r>
              <a:rPr b="1" lang="sv" sz="11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authentication</a:t>
            </a:r>
            <a:endParaRPr baseline="-25000" sz="1100"/>
          </a:p>
        </p:txBody>
      </p:sp>
      <p:sp>
        <p:nvSpPr>
          <p:cNvPr id="263" name="Google Shape;263;p29"/>
          <p:cNvSpPr txBox="1"/>
          <p:nvPr/>
        </p:nvSpPr>
        <p:spPr>
          <a:xfrm>
            <a:off x="912131" y="1519031"/>
            <a:ext cx="3429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oday there is no authentication</a:t>
            </a:r>
            <a:r>
              <a:rPr lang="sv" sz="9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only an</a:t>
            </a: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identity gate that collects a self-reported name/email up front — format-checked, not verified. For production proper, token-based authentication (typically integrated with the Bookly site) is a must.</a:t>
            </a:r>
            <a:endParaRPr sz="1200">
              <a:solidFill>
                <a:srgbClr val="7A4A2B"/>
              </a:solidFill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377200" y="2366010"/>
            <a:ext cx="4114910" cy="1110996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514364" y="2503170"/>
            <a:ext cx="288044" cy="288036"/>
          </a:xfrm>
          <a:prstGeom prst="roundRect">
            <a:avLst>
              <a:gd fmla="val 50000" name="adj"/>
            </a:avLst>
          </a:prstGeom>
          <a:solidFill>
            <a:srgbClr val="7A4A2B"/>
          </a:solidFill>
          <a:ln cap="flat" cmpd="sng" w="12700">
            <a:solidFill>
              <a:srgbClr val="7A4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100"/>
          </a:p>
        </p:txBody>
      </p:sp>
      <p:sp>
        <p:nvSpPr>
          <p:cNvPr id="266" name="Google Shape;266;p29"/>
          <p:cNvSpPr txBox="1"/>
          <p:nvPr/>
        </p:nvSpPr>
        <p:spPr>
          <a:xfrm>
            <a:off x="912138" y="2489454"/>
            <a:ext cx="342909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human escalation path</a:t>
            </a:r>
            <a:endParaRPr sz="1100"/>
          </a:p>
        </p:txBody>
      </p:sp>
      <p:sp>
        <p:nvSpPr>
          <p:cNvPr id="267" name="Google Shape;267;p29"/>
          <p:cNvSpPr txBox="1"/>
          <p:nvPr/>
        </p:nvSpPr>
        <p:spPr>
          <a:xfrm>
            <a:off x="912138" y="2750058"/>
            <a:ext cx="34290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way today to hand off to a person when the agent can't help or a customer is upset — a real deployment needs that safety valve.</a:t>
            </a:r>
            <a:endParaRPr sz="900">
              <a:solidFill>
                <a:srgbClr val="7A4A2B"/>
              </a:solidFill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4697855" y="2366010"/>
            <a:ext cx="4114910" cy="1110996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4835019" y="2503170"/>
            <a:ext cx="288044" cy="288036"/>
          </a:xfrm>
          <a:prstGeom prst="roundRect">
            <a:avLst>
              <a:gd fmla="val 50000" name="adj"/>
            </a:avLst>
          </a:prstGeom>
          <a:solidFill>
            <a:srgbClr val="7A4A2B"/>
          </a:solidFill>
          <a:ln cap="flat" cmpd="sng" w="12700">
            <a:solidFill>
              <a:srgbClr val="7A4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100"/>
          </a:p>
        </p:txBody>
      </p:sp>
      <p:sp>
        <p:nvSpPr>
          <p:cNvPr id="270" name="Google Shape;270;p29"/>
          <p:cNvSpPr txBox="1"/>
          <p:nvPr/>
        </p:nvSpPr>
        <p:spPr>
          <a:xfrm>
            <a:off x="5232793" y="2489454"/>
            <a:ext cx="342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RAG for </a:t>
            </a:r>
            <a:r>
              <a:rPr b="1" lang="sv" sz="11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</a:t>
            </a: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</a:t>
            </a:r>
            <a:endParaRPr sz="1100"/>
          </a:p>
        </p:txBody>
      </p:sp>
      <p:sp>
        <p:nvSpPr>
          <p:cNvPr id="271" name="Google Shape;271;p29"/>
          <p:cNvSpPr txBox="1"/>
          <p:nvPr/>
        </p:nvSpPr>
        <p:spPr>
          <a:xfrm>
            <a:off x="5232793" y="2750058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Shipping/returns/password-reset text lives in config.yaml today. Fine for three policies; a real catalog of support content needs retrieval, not a growing system prompt.</a:t>
            </a:r>
            <a:endParaRPr sz="900">
              <a:solidFill>
                <a:srgbClr val="7A4A2B"/>
              </a:solidFill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377200" y="3600450"/>
            <a:ext cx="4114910" cy="1110996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9"/>
          <p:cNvSpPr/>
          <p:nvPr/>
        </p:nvSpPr>
        <p:spPr>
          <a:xfrm>
            <a:off x="514364" y="3737610"/>
            <a:ext cx="288044" cy="288036"/>
          </a:xfrm>
          <a:prstGeom prst="roundRect">
            <a:avLst>
              <a:gd fmla="val 50000" name="adj"/>
            </a:avLst>
          </a:prstGeom>
          <a:solidFill>
            <a:srgbClr val="7A4A2B"/>
          </a:solidFill>
          <a:ln cap="flat" cmpd="sng" w="12700">
            <a:solidFill>
              <a:srgbClr val="7A4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100"/>
          </a:p>
        </p:txBody>
      </p:sp>
      <p:sp>
        <p:nvSpPr>
          <p:cNvPr id="274" name="Google Shape;274;p29"/>
          <p:cNvSpPr txBox="1"/>
          <p:nvPr/>
        </p:nvSpPr>
        <p:spPr>
          <a:xfrm>
            <a:off x="912138" y="3723894"/>
            <a:ext cx="342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Observability across </a:t>
            </a:r>
            <a:r>
              <a:rPr b="1" lang="sv" sz="11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tiers</a:t>
            </a:r>
            <a:endParaRPr sz="1100"/>
          </a:p>
        </p:txBody>
      </p:sp>
      <p:sp>
        <p:nvSpPr>
          <p:cNvPr id="275" name="Google Shape;275;p29"/>
          <p:cNvSpPr txBox="1"/>
          <p:nvPr/>
        </p:nvSpPr>
        <p:spPr>
          <a:xfrm>
            <a:off x="912138" y="3984498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 now it's log lines. Production needs OpenTelemetry traces/spans</a:t>
            </a:r>
            <a:r>
              <a:rPr lang="sv" sz="9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across the </a:t>
            </a: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 → LLM </a:t>
            </a:r>
            <a:r>
              <a:rPr lang="sv" sz="9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</a:t>
            </a: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MCP → API </a:t>
            </a:r>
            <a:r>
              <a:rPr lang="sv" sz="9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</a:t>
            </a: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a slow interaction</a:t>
            </a:r>
            <a:r>
              <a:rPr lang="sv" sz="900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 call is diagnosable.</a:t>
            </a:r>
            <a:endParaRPr sz="900">
              <a:solidFill>
                <a:srgbClr val="7A4A2B"/>
              </a:solidFill>
            </a:endParaRPr>
          </a:p>
        </p:txBody>
      </p:sp>
      <p:sp>
        <p:nvSpPr>
          <p:cNvPr id="276" name="Google Shape;276;p29"/>
          <p:cNvSpPr/>
          <p:nvPr/>
        </p:nvSpPr>
        <p:spPr>
          <a:xfrm>
            <a:off x="4697855" y="3600450"/>
            <a:ext cx="4114910" cy="1110996"/>
          </a:xfrm>
          <a:prstGeom prst="roundRect">
            <a:avLst>
              <a:gd fmla="val 8000" name="adj"/>
            </a:avLst>
          </a:prstGeom>
          <a:solidFill>
            <a:srgbClr val="EFE7DB"/>
          </a:solidFill>
          <a:ln cap="flat" cmpd="sng" w="12700">
            <a:solidFill>
              <a:srgbClr val="E3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9"/>
          <p:cNvSpPr/>
          <p:nvPr/>
        </p:nvSpPr>
        <p:spPr>
          <a:xfrm>
            <a:off x="4835019" y="3737610"/>
            <a:ext cx="288044" cy="288036"/>
          </a:xfrm>
          <a:prstGeom prst="roundRect">
            <a:avLst>
              <a:gd fmla="val 50000" name="adj"/>
            </a:avLst>
          </a:prstGeom>
          <a:solidFill>
            <a:srgbClr val="7A4A2B"/>
          </a:solidFill>
          <a:ln cap="flat" cmpd="sng" w="12700">
            <a:solidFill>
              <a:srgbClr val="7A4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v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100"/>
          </a:p>
        </p:txBody>
      </p:sp>
      <p:sp>
        <p:nvSpPr>
          <p:cNvPr id="278" name="Google Shape;278;p29"/>
          <p:cNvSpPr txBox="1"/>
          <p:nvPr/>
        </p:nvSpPr>
        <p:spPr>
          <a:xfrm>
            <a:off x="5232793" y="3723894"/>
            <a:ext cx="342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100">
                <a:solidFill>
                  <a:srgbClr val="2B23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guidelines and model evaluation</a:t>
            </a:r>
            <a:endParaRPr sz="1100"/>
          </a:p>
        </p:txBody>
      </p:sp>
      <p:sp>
        <p:nvSpPr>
          <p:cNvPr id="279" name="Google Shape;279;p29"/>
          <p:cNvSpPr txBox="1"/>
          <p:nvPr/>
        </p:nvSpPr>
        <p:spPr>
          <a:xfrm>
            <a:off x="5232793" y="3984498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900" u="none" cap="none" strike="noStrike">
                <a:solidFill>
                  <a:srgbClr val="7A4A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test suite proves the plumbing (tool wiring, guardrail fail-closed behavior) deterministically. Production needs eval coverage of the model's actual judgment across many phrasings.</a:t>
            </a:r>
            <a:endParaRPr sz="900">
              <a:solidFill>
                <a:srgbClr val="7A4A2B"/>
              </a:solidFill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8526779" y="4834890"/>
            <a:ext cx="4114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" sz="800" u="none" cap="none" strike="noStrike">
                <a:solidFill>
                  <a:srgbClr val="7A6F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